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drawings/drawing1.xml" ContentType="application/vnd.openxmlformats-officedocument.drawingml.chartshape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"/>
  </p:notesMasterIdLst>
  <p:sldIdLst>
    <p:sldId id="290" r:id="rId2"/>
    <p:sldId id="931" r:id="rId3"/>
    <p:sldId id="930" r:id="rId4"/>
  </p:sldIdLst>
  <p:sldSz cx="12192000" cy="6858000"/>
  <p:notesSz cx="6794500" cy="99314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Богатырев Александр Геннадиевич" initials="БАГ" lastIdx="5" clrIdx="0">
    <p:extLst>
      <p:ext uri="{19B8F6BF-5375-455C-9EA6-DF929625EA0E}">
        <p15:presenceInfo xmlns:p15="http://schemas.microsoft.com/office/powerpoint/2012/main" userId="S-1-5-21-828287025-3310087704-4284828918-253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E0B4"/>
    <a:srgbClr val="F1F1F1"/>
    <a:srgbClr val="FFD966"/>
    <a:srgbClr val="F69292"/>
    <a:srgbClr val="EBEBEB"/>
    <a:srgbClr val="DCE6F1"/>
    <a:srgbClr val="00B050"/>
    <a:srgbClr val="FFFFFF"/>
    <a:srgbClr val="2E75B6"/>
    <a:srgbClr val="E7E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57" autoAdjust="0"/>
    <p:restoredTop sz="94365" autoAdjust="0"/>
  </p:normalViewPr>
  <p:slideViewPr>
    <p:cSldViewPr snapToGrid="0">
      <p:cViewPr varScale="1">
        <p:scale>
          <a:sx n="105" d="100"/>
          <a:sy n="105" d="100"/>
        </p:scale>
        <p:origin x="94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5" Type="http://schemas.openxmlformats.org/officeDocument/2006/relationships/chartUserShapes" Target="../drawings/drawing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Лист2!$G$3</c:f>
              <c:strCache>
                <c:ptCount val="1"/>
                <c:pt idx="0">
                  <c:v>01.05-31.05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Лист2!$F$4:$F$16</c:f>
              <c:strCache>
                <c:ptCount val="13"/>
                <c:pt idx="0">
                  <c:v>АВД ЮВАО</c:v>
                </c:pt>
                <c:pt idx="1">
                  <c:v>Выхино-Жулебино</c:v>
                </c:pt>
                <c:pt idx="2">
                  <c:v>Капотня</c:v>
                </c:pt>
                <c:pt idx="3">
                  <c:v>Кузьминки</c:v>
                </c:pt>
                <c:pt idx="4">
                  <c:v>Лефортово</c:v>
                </c:pt>
                <c:pt idx="5">
                  <c:v>Люблино</c:v>
                </c:pt>
                <c:pt idx="6">
                  <c:v>Марьино</c:v>
                </c:pt>
                <c:pt idx="7">
                  <c:v>Некрасовка</c:v>
                </c:pt>
                <c:pt idx="8">
                  <c:v>Нижегородский</c:v>
                </c:pt>
                <c:pt idx="9">
                  <c:v>Печатники</c:v>
                </c:pt>
                <c:pt idx="10">
                  <c:v>Рязанский</c:v>
                </c:pt>
                <c:pt idx="11">
                  <c:v>Текстильщики</c:v>
                </c:pt>
                <c:pt idx="12">
                  <c:v>Южнопортовый</c:v>
                </c:pt>
              </c:strCache>
            </c:strRef>
          </c:cat>
          <c:val>
            <c:numRef>
              <c:f>Лист2!$G$4:$G$16</c:f>
              <c:numCache>
                <c:formatCode>General</c:formatCode>
                <c:ptCount val="13"/>
                <c:pt idx="0">
                  <c:v>14</c:v>
                </c:pt>
                <c:pt idx="1">
                  <c:v>27</c:v>
                </c:pt>
                <c:pt idx="2">
                  <c:v>1</c:v>
                </c:pt>
                <c:pt idx="3">
                  <c:v>65</c:v>
                </c:pt>
                <c:pt idx="4">
                  <c:v>53</c:v>
                </c:pt>
                <c:pt idx="5">
                  <c:v>14</c:v>
                </c:pt>
                <c:pt idx="6">
                  <c:v>25</c:v>
                </c:pt>
                <c:pt idx="7">
                  <c:v>4</c:v>
                </c:pt>
                <c:pt idx="8">
                  <c:v>10</c:v>
                </c:pt>
                <c:pt idx="9">
                  <c:v>23</c:v>
                </c:pt>
                <c:pt idx="10">
                  <c:v>40</c:v>
                </c:pt>
                <c:pt idx="11">
                  <c:v>32</c:v>
                </c:pt>
                <c:pt idx="1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AC-44C9-AE69-B12D81D05A09}"/>
            </c:ext>
          </c:extLst>
        </c:ser>
        <c:ser>
          <c:idx val="1"/>
          <c:order val="1"/>
          <c:tx>
            <c:strRef>
              <c:f>Лист2!$H$3</c:f>
              <c:strCache>
                <c:ptCount val="1"/>
                <c:pt idx="0">
                  <c:v>01.06-30.06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Лист2!$F$4:$F$16</c:f>
              <c:strCache>
                <c:ptCount val="13"/>
                <c:pt idx="0">
                  <c:v>АВД ЮВАО</c:v>
                </c:pt>
                <c:pt idx="1">
                  <c:v>Выхино-Жулебино</c:v>
                </c:pt>
                <c:pt idx="2">
                  <c:v>Капотня</c:v>
                </c:pt>
                <c:pt idx="3">
                  <c:v>Кузьминки</c:v>
                </c:pt>
                <c:pt idx="4">
                  <c:v>Лефортово</c:v>
                </c:pt>
                <c:pt idx="5">
                  <c:v>Люблино</c:v>
                </c:pt>
                <c:pt idx="6">
                  <c:v>Марьино</c:v>
                </c:pt>
                <c:pt idx="7">
                  <c:v>Некрасовка</c:v>
                </c:pt>
                <c:pt idx="8">
                  <c:v>Нижегородский</c:v>
                </c:pt>
                <c:pt idx="9">
                  <c:v>Печатники</c:v>
                </c:pt>
                <c:pt idx="10">
                  <c:v>Рязанский</c:v>
                </c:pt>
                <c:pt idx="11">
                  <c:v>Текстильщики</c:v>
                </c:pt>
                <c:pt idx="12">
                  <c:v>Южнопортовый</c:v>
                </c:pt>
              </c:strCache>
            </c:strRef>
          </c:cat>
          <c:val>
            <c:numRef>
              <c:f>Лист2!$H$4:$H$16</c:f>
              <c:numCache>
                <c:formatCode>General</c:formatCode>
                <c:ptCount val="13"/>
                <c:pt idx="0">
                  <c:v>16</c:v>
                </c:pt>
                <c:pt idx="1">
                  <c:v>22</c:v>
                </c:pt>
                <c:pt idx="2">
                  <c:v>8</c:v>
                </c:pt>
                <c:pt idx="3">
                  <c:v>55</c:v>
                </c:pt>
                <c:pt idx="4">
                  <c:v>65</c:v>
                </c:pt>
                <c:pt idx="5">
                  <c:v>28</c:v>
                </c:pt>
                <c:pt idx="6">
                  <c:v>32</c:v>
                </c:pt>
                <c:pt idx="7">
                  <c:v>2</c:v>
                </c:pt>
                <c:pt idx="8">
                  <c:v>9</c:v>
                </c:pt>
                <c:pt idx="9">
                  <c:v>33</c:v>
                </c:pt>
                <c:pt idx="10">
                  <c:v>37</c:v>
                </c:pt>
                <c:pt idx="11">
                  <c:v>14</c:v>
                </c:pt>
                <c:pt idx="1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8AC-44C9-AE69-B12D81D05A0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39150080"/>
        <c:axId val="339151520"/>
      </c:barChart>
      <c:catAx>
        <c:axId val="339150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39151520"/>
        <c:crosses val="autoZero"/>
        <c:auto val="1"/>
        <c:lblAlgn val="ctr"/>
        <c:lblOffset val="100"/>
        <c:noMultiLvlLbl val="0"/>
      </c:catAx>
      <c:valAx>
        <c:axId val="3391515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391500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6892818446954155E-2"/>
          <c:y val="0.92971620475818406"/>
          <c:w val="0.47823751265031239"/>
          <c:h val="4.968454354612873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 b="1">
          <a:solidFill>
            <a:schemeClr val="tx1"/>
          </a:solidFill>
        </a:defRPr>
      </a:pPr>
      <a:endParaRPr lang="ru-RU"/>
    </a:p>
  </c:txPr>
  <c:externalData r:id="rId4">
    <c:autoUpdate val="0"/>
  </c:externalData>
  <c:userShapes r:id="rId5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0.41812</cdr:x>
      <cdr:y>0.25431</cdr:y>
    </cdr:from>
    <cdr:to>
      <cdr:x>0.44725</cdr:x>
      <cdr:y>0.31141</cdr:y>
    </cdr:to>
    <cdr:sp macro="" textlink="">
      <cdr:nvSpPr>
        <cdr:cNvPr id="2" name="Oval 8">
          <a:extLst xmlns:a="http://schemas.openxmlformats.org/drawingml/2006/main">
            <a:ext uri="{FF2B5EF4-FFF2-40B4-BE49-F238E27FC236}">
              <a16:creationId xmlns:a16="http://schemas.microsoft.com/office/drawing/2014/main" id="{E920C027-02BD-A6E4-48C6-53A62B83E648}"/>
            </a:ext>
          </a:extLst>
        </cdr:cNvPr>
        <cdr:cNvSpPr/>
      </cdr:nvSpPr>
      <cdr:spPr>
        <a:xfrm xmlns:a="http://schemas.openxmlformats.org/drawingml/2006/main">
          <a:off x="4657492" y="1302422"/>
          <a:ext cx="324481" cy="292436"/>
        </a:xfrm>
        <a:prstGeom xmlns:a="http://schemas.openxmlformats.org/drawingml/2006/main" prst="ellipse">
          <a:avLst/>
        </a:prstGeom>
        <a:noFill xmlns:a="http://schemas.openxmlformats.org/drawingml/2006/main"/>
        <a:ln xmlns:a="http://schemas.openxmlformats.org/drawingml/2006/main" w="18288">
          <a:solidFill>
            <a:srgbClr val="FF0000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3">
          <a:schemeClr val="accent1"/>
        </a:fillRef>
        <a:effectRef xmlns:a="http://schemas.openxmlformats.org/drawingml/2006/main" idx="2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ru-RU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4" cy="497918"/>
          </a:xfrm>
          <a:prstGeom prst="rect">
            <a:avLst/>
          </a:prstGeom>
        </p:spPr>
        <p:txBody>
          <a:bodyPr vert="horz" lIns="91285" tIns="45642" rIns="91285" bIns="45642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48633" y="0"/>
            <a:ext cx="2944284" cy="497918"/>
          </a:xfrm>
          <a:prstGeom prst="rect">
            <a:avLst/>
          </a:prstGeom>
        </p:spPr>
        <p:txBody>
          <a:bodyPr vert="horz" lIns="91285" tIns="45642" rIns="91285" bIns="45642" rtlCol="0"/>
          <a:lstStyle>
            <a:lvl1pPr algn="r">
              <a:defRPr sz="1200"/>
            </a:lvl1pPr>
          </a:lstStyle>
          <a:p>
            <a:fld id="{5016DBE1-2270-4952-AFAF-29355A149ABF}" type="datetimeFigureOut">
              <a:rPr lang="ru-RU" smtClean="0"/>
              <a:t>14.07.2025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17513" y="1241425"/>
            <a:ext cx="5959475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285" tIns="45642" rIns="91285" bIns="45642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450" y="4779378"/>
            <a:ext cx="5435600" cy="3910399"/>
          </a:xfrm>
          <a:prstGeom prst="rect">
            <a:avLst/>
          </a:prstGeom>
        </p:spPr>
        <p:txBody>
          <a:bodyPr vert="horz" lIns="91285" tIns="45642" rIns="91285" bIns="45642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3483"/>
            <a:ext cx="2944284" cy="497918"/>
          </a:xfrm>
          <a:prstGeom prst="rect">
            <a:avLst/>
          </a:prstGeom>
        </p:spPr>
        <p:txBody>
          <a:bodyPr vert="horz" lIns="91285" tIns="45642" rIns="91285" bIns="45642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48633" y="9433483"/>
            <a:ext cx="2944284" cy="497918"/>
          </a:xfrm>
          <a:prstGeom prst="rect">
            <a:avLst/>
          </a:prstGeom>
        </p:spPr>
        <p:txBody>
          <a:bodyPr vert="horz" lIns="91285" tIns="45642" rIns="91285" bIns="45642" rtlCol="0" anchor="b"/>
          <a:lstStyle>
            <a:lvl1pPr algn="r">
              <a:defRPr sz="1200"/>
            </a:lvl1pPr>
          </a:lstStyle>
          <a:p>
            <a:fld id="{6FB7E1E3-DFC6-4569-85BA-35ABB7A6D6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4760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7E1E3-DFC6-4569-85BA-35ABB7A6D6E3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9373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01.03.2024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Управление РИПиР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46E25-CFA6-45EB-B137-D2E9891C60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9538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01.03.2024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Управление РИПиР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46E25-CFA6-45EB-B137-D2E9891C60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2003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01.03.2024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Управление РИПиР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46E25-CFA6-45EB-B137-D2E9891C60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6437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01.03.2024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Управление РИПиР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46E25-CFA6-45EB-B137-D2E9891C60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7130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01.03.2024</a:t>
            </a: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Управление РИПиР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46E25-CFA6-45EB-B137-D2E9891C60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2138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01.03.2024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Управление РИПиР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46E25-CFA6-45EB-B137-D2E9891C60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3766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01.03.2024</a:t>
            </a: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Управление РИПиР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46E25-CFA6-45EB-B137-D2E9891C60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0396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01.03.2024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Управление РИПиР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46E25-CFA6-45EB-B137-D2E9891C60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684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01.03.2024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Управление РИПиР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46E25-CFA6-45EB-B137-D2E9891C60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7069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01.03.2024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Управление РИПиР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46E25-CFA6-45EB-B137-D2E9891C60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1802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01.03.2024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Управление РИПиР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46E25-CFA6-45EB-B137-D2E9891C60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0844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7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01.03.2024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Управление РИПиР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746E25-CFA6-45EB-B137-D2E9891C60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0132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9144"/>
            <a:ext cx="12192000" cy="68671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8748" y="2902187"/>
            <a:ext cx="1109470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800" b="1" dirty="0">
                <a:solidFill>
                  <a:prstClr val="black"/>
                </a:solidFill>
                <a:latin typeface="Sitka Subheading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ОТЧЕТ О СОДЕРЖАНИИ ОБЪЕКТОВ ГОРОДСКОГО ХОЗЯЙСТВА</a:t>
            </a:r>
          </a:p>
          <a:p>
            <a:pPr lvl="0" algn="ctr">
              <a:defRPr/>
            </a:pPr>
            <a:r>
              <a:rPr lang="ru-RU" sz="2800" b="1" dirty="0">
                <a:solidFill>
                  <a:prstClr val="black"/>
                </a:solidFill>
                <a:latin typeface="Sitka Subheading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ЗА </a:t>
            </a:r>
            <a:r>
              <a:rPr lang="en-US" sz="2800" b="1" dirty="0">
                <a:solidFill>
                  <a:prstClr val="black"/>
                </a:solidFill>
                <a:latin typeface="Segoe UI Semilight" panose="020B0402040204020203" pitchFamily="34" charset="0"/>
                <a:ea typeface="Microsoft Sans Serif" panose="020B0604020202020204" pitchFamily="34" charset="0"/>
                <a:cs typeface="Segoe UI Semilight" panose="020B0402040204020203" pitchFamily="34" charset="0"/>
              </a:rPr>
              <a:t>0</a:t>
            </a:r>
            <a:r>
              <a:rPr lang="ru-RU" sz="2800" b="1" dirty="0">
                <a:solidFill>
                  <a:prstClr val="black"/>
                </a:solidFill>
                <a:latin typeface="Segoe UI Semilight" panose="020B0402040204020203" pitchFamily="34" charset="0"/>
                <a:ea typeface="Microsoft Sans Serif" panose="020B0604020202020204" pitchFamily="34" charset="0"/>
                <a:cs typeface="Segoe UI Semilight" panose="020B0402040204020203" pitchFamily="34" charset="0"/>
              </a:rPr>
              <a:t>1.</a:t>
            </a:r>
            <a:r>
              <a:rPr lang="en-US" sz="2800" b="1" dirty="0">
                <a:solidFill>
                  <a:prstClr val="black"/>
                </a:solidFill>
                <a:latin typeface="Segoe UI Semilight" panose="020B0402040204020203" pitchFamily="34" charset="0"/>
                <a:ea typeface="Microsoft Sans Serif" panose="020B0604020202020204" pitchFamily="34" charset="0"/>
                <a:cs typeface="Segoe UI Semilight" panose="020B0402040204020203" pitchFamily="34" charset="0"/>
              </a:rPr>
              <a:t>0</a:t>
            </a:r>
            <a:r>
              <a:rPr lang="ru-RU" sz="2800" b="1" dirty="0">
                <a:solidFill>
                  <a:prstClr val="black"/>
                </a:solidFill>
                <a:latin typeface="Segoe UI Semilight" panose="020B0402040204020203" pitchFamily="34" charset="0"/>
                <a:ea typeface="Microsoft Sans Serif" panose="020B0604020202020204" pitchFamily="34" charset="0"/>
                <a:cs typeface="Segoe UI Semilight" panose="020B0402040204020203" pitchFamily="34" charset="0"/>
              </a:rPr>
              <a:t>5.202</a:t>
            </a:r>
            <a:r>
              <a:rPr lang="en-US" sz="2800" b="1" dirty="0">
                <a:solidFill>
                  <a:prstClr val="black"/>
                </a:solidFill>
                <a:latin typeface="Segoe UI Semilight" panose="020B0402040204020203" pitchFamily="34" charset="0"/>
                <a:ea typeface="Microsoft Sans Serif" panose="020B0604020202020204" pitchFamily="34" charset="0"/>
                <a:cs typeface="Segoe UI Semilight" panose="020B0402040204020203" pitchFamily="34" charset="0"/>
              </a:rPr>
              <a:t>5</a:t>
            </a:r>
            <a:r>
              <a:rPr lang="ru-RU" sz="2800" b="1" dirty="0">
                <a:solidFill>
                  <a:prstClr val="black"/>
                </a:solidFill>
                <a:latin typeface="Segoe UI Semilight" panose="020B0402040204020203" pitchFamily="34" charset="0"/>
                <a:ea typeface="Microsoft Sans Serif" panose="020B0604020202020204" pitchFamily="34" charset="0"/>
                <a:cs typeface="Segoe UI Semilight" panose="020B0402040204020203" pitchFamily="34" charset="0"/>
              </a:rPr>
              <a:t>-31.</a:t>
            </a:r>
            <a:r>
              <a:rPr lang="en-US" sz="2800" b="1" dirty="0">
                <a:solidFill>
                  <a:prstClr val="black"/>
                </a:solidFill>
                <a:latin typeface="Segoe UI Semilight" panose="020B0402040204020203" pitchFamily="34" charset="0"/>
                <a:ea typeface="Microsoft Sans Serif" panose="020B0604020202020204" pitchFamily="34" charset="0"/>
                <a:cs typeface="Segoe UI Semilight" panose="020B0402040204020203" pitchFamily="34" charset="0"/>
              </a:rPr>
              <a:t>0</a:t>
            </a:r>
            <a:r>
              <a:rPr lang="ru-RU" sz="2800" b="1" dirty="0">
                <a:solidFill>
                  <a:prstClr val="black"/>
                </a:solidFill>
                <a:latin typeface="Segoe UI Semilight" panose="020B0402040204020203" pitchFamily="34" charset="0"/>
                <a:ea typeface="Microsoft Sans Serif" panose="020B0604020202020204" pitchFamily="34" charset="0"/>
                <a:cs typeface="Segoe UI Semilight" panose="020B0402040204020203" pitchFamily="34" charset="0"/>
              </a:rPr>
              <a:t>5.202</a:t>
            </a:r>
            <a:r>
              <a:rPr lang="en-US" sz="2800" b="1" dirty="0">
                <a:solidFill>
                  <a:prstClr val="black"/>
                </a:solidFill>
                <a:latin typeface="Segoe UI Semilight" panose="020B0402040204020203" pitchFamily="34" charset="0"/>
                <a:ea typeface="Microsoft Sans Serif" panose="020B0604020202020204" pitchFamily="34" charset="0"/>
                <a:cs typeface="Segoe UI Semilight" panose="020B0402040204020203" pitchFamily="34" charset="0"/>
              </a:rPr>
              <a:t>5/0</a:t>
            </a:r>
            <a:r>
              <a:rPr lang="ru-RU" sz="2800" b="1" dirty="0">
                <a:solidFill>
                  <a:prstClr val="black"/>
                </a:solidFill>
                <a:latin typeface="Segoe UI Semilight" panose="020B0402040204020203" pitchFamily="34" charset="0"/>
                <a:ea typeface="Microsoft Sans Serif" panose="020B0604020202020204" pitchFamily="34" charset="0"/>
                <a:cs typeface="Segoe UI Semilight" panose="020B0402040204020203" pitchFamily="34" charset="0"/>
              </a:rPr>
              <a:t>1.</a:t>
            </a:r>
            <a:r>
              <a:rPr lang="en-US" sz="2800" b="1" dirty="0">
                <a:solidFill>
                  <a:prstClr val="black"/>
                </a:solidFill>
                <a:latin typeface="Segoe UI Semilight" panose="020B0402040204020203" pitchFamily="34" charset="0"/>
                <a:ea typeface="Microsoft Sans Serif" panose="020B0604020202020204" pitchFamily="34" charset="0"/>
                <a:cs typeface="Segoe UI Semilight" panose="020B0402040204020203" pitchFamily="34" charset="0"/>
              </a:rPr>
              <a:t>0</a:t>
            </a:r>
            <a:r>
              <a:rPr lang="ru-RU" sz="2800" b="1" dirty="0">
                <a:solidFill>
                  <a:prstClr val="black"/>
                </a:solidFill>
                <a:latin typeface="Segoe UI Semilight" panose="020B0402040204020203" pitchFamily="34" charset="0"/>
                <a:ea typeface="Microsoft Sans Serif" panose="020B0604020202020204" pitchFamily="34" charset="0"/>
                <a:cs typeface="Segoe UI Semilight" panose="020B0402040204020203" pitchFamily="34" charset="0"/>
              </a:rPr>
              <a:t>6.202</a:t>
            </a:r>
            <a:r>
              <a:rPr lang="en-US" sz="2800" b="1" dirty="0">
                <a:solidFill>
                  <a:prstClr val="black"/>
                </a:solidFill>
                <a:latin typeface="Segoe UI Semilight" panose="020B0402040204020203" pitchFamily="34" charset="0"/>
                <a:ea typeface="Microsoft Sans Serif" panose="020B0604020202020204" pitchFamily="34" charset="0"/>
                <a:cs typeface="Segoe UI Semilight" panose="020B0402040204020203" pitchFamily="34" charset="0"/>
              </a:rPr>
              <a:t>5</a:t>
            </a:r>
            <a:r>
              <a:rPr lang="ru-RU" sz="2800" b="1" dirty="0">
                <a:solidFill>
                  <a:prstClr val="black"/>
                </a:solidFill>
                <a:latin typeface="Segoe UI Semilight" panose="020B0402040204020203" pitchFamily="34" charset="0"/>
                <a:ea typeface="Microsoft Sans Serif" panose="020B0604020202020204" pitchFamily="34" charset="0"/>
                <a:cs typeface="Segoe UI Semilight" panose="020B0402040204020203" pitchFamily="34" charset="0"/>
              </a:rPr>
              <a:t>-30.</a:t>
            </a:r>
            <a:r>
              <a:rPr lang="en-US" sz="2800" b="1" dirty="0">
                <a:solidFill>
                  <a:prstClr val="black"/>
                </a:solidFill>
                <a:latin typeface="Segoe UI Semilight" panose="020B0402040204020203" pitchFamily="34" charset="0"/>
                <a:ea typeface="Microsoft Sans Serif" panose="020B0604020202020204" pitchFamily="34" charset="0"/>
                <a:cs typeface="Segoe UI Semilight" panose="020B0402040204020203" pitchFamily="34" charset="0"/>
              </a:rPr>
              <a:t>0</a:t>
            </a:r>
            <a:r>
              <a:rPr lang="ru-RU" sz="2800" b="1" dirty="0">
                <a:solidFill>
                  <a:prstClr val="black"/>
                </a:solidFill>
                <a:latin typeface="Segoe UI Semilight" panose="020B0402040204020203" pitchFamily="34" charset="0"/>
                <a:ea typeface="Microsoft Sans Serif" panose="020B0604020202020204" pitchFamily="34" charset="0"/>
                <a:cs typeface="Segoe UI Semilight" panose="020B0402040204020203" pitchFamily="34" charset="0"/>
              </a:rPr>
              <a:t>6.202</a:t>
            </a:r>
            <a:r>
              <a:rPr lang="en-US" sz="2800" b="1" dirty="0">
                <a:solidFill>
                  <a:prstClr val="black"/>
                </a:solidFill>
                <a:latin typeface="Segoe UI Semilight" panose="020B0402040204020203" pitchFamily="34" charset="0"/>
                <a:ea typeface="Microsoft Sans Serif" panose="020B0604020202020204" pitchFamily="34" charset="0"/>
                <a:cs typeface="Segoe UI Semilight" panose="020B0402040204020203" pitchFamily="34" charset="0"/>
              </a:rPr>
              <a:t>5</a:t>
            </a:r>
            <a:endParaRPr lang="ru-RU" sz="2800" b="1" dirty="0">
              <a:solidFill>
                <a:prstClr val="black"/>
              </a:solidFill>
              <a:latin typeface="Segoe UI Semilight" panose="020B0402040204020203" pitchFamily="34" charset="0"/>
              <a:ea typeface="Microsoft Sans Serif" panose="020B0604020202020204" pitchFamily="34" charset="0"/>
              <a:cs typeface="Segoe UI Semilight" panose="020B0402040204020203" pitchFamily="34" charset="0"/>
            </a:endParaRPr>
          </a:p>
        </p:txBody>
      </p:sp>
      <p:cxnSp>
        <p:nvCxnSpPr>
          <p:cNvPr id="6" name="Прямая соединительная линия 5"/>
          <p:cNvCxnSpPr>
            <a:cxnSpLocks/>
          </p:cNvCxnSpPr>
          <p:nvPr/>
        </p:nvCxnSpPr>
        <p:spPr>
          <a:xfrm>
            <a:off x="1160206" y="3856294"/>
            <a:ext cx="10009239" cy="0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728831" y="4112416"/>
            <a:ext cx="707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ДАННЫМ СИСТЕМЫ МОНИТОРИНГА СОДЕРЖАНИЯ ОБЪЕКТОВ ГОРОДСКОГО ХОЗЯЙСТВА</a:t>
            </a:r>
          </a:p>
          <a:p>
            <a:pPr algn="ctr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(ПОРТАЛ «НАШ ГОРОД», ЕДЦ, ЦАФАП, ОАТИ, МЖИ, ЦОДД)</a:t>
            </a:r>
          </a:p>
        </p:txBody>
      </p:sp>
      <p:pic>
        <p:nvPicPr>
          <p:cNvPr id="1026" name="Picture 2" descr="ГОС СЭС Санэпидемстанция ЮВАО официальный сайт ЮВАО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3419" y="191527"/>
            <a:ext cx="733052" cy="795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8748" y="344131"/>
            <a:ext cx="621195" cy="620492"/>
          </a:xfrm>
          <a:prstGeom prst="rect">
            <a:avLst/>
          </a:prstGeom>
        </p:spPr>
      </p:pic>
      <p:cxnSp>
        <p:nvCxnSpPr>
          <p:cNvPr id="10" name="Прямая соединительная линия 9"/>
          <p:cNvCxnSpPr/>
          <p:nvPr/>
        </p:nvCxnSpPr>
        <p:spPr>
          <a:xfrm>
            <a:off x="1079943" y="742950"/>
            <a:ext cx="1880643" cy="0"/>
          </a:xfrm>
          <a:prstGeom prst="line">
            <a:avLst/>
          </a:prstGeom>
          <a:ln>
            <a:solidFill>
              <a:srgbClr val="0070C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/>
          <p:cNvSpPr/>
          <p:nvPr/>
        </p:nvSpPr>
        <p:spPr>
          <a:xfrm>
            <a:off x="1079943" y="435172"/>
            <a:ext cx="153439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700" dirty="0">
                <a:ln w="0"/>
                <a:solidFill>
                  <a:schemeClr val="bg1">
                    <a:lumMod val="50000"/>
                  </a:schemeClr>
                </a:solidFill>
                <a:latin typeface="Bahnschrift SemiBold SemiConden" panose="020B0502040204020203" pitchFamily="34" charset="0"/>
              </a:rPr>
              <a:t>МОНИТОРИНГ СОДЕРЖАНИЯ</a:t>
            </a:r>
            <a:br>
              <a:rPr lang="ru-RU" sz="700" dirty="0">
                <a:ln w="0"/>
                <a:solidFill>
                  <a:schemeClr val="bg1">
                    <a:lumMod val="50000"/>
                  </a:schemeClr>
                </a:solidFill>
                <a:latin typeface="Bahnschrift SemiBold SemiConden" panose="020B0502040204020203" pitchFamily="34" charset="0"/>
              </a:rPr>
            </a:br>
            <a:r>
              <a:rPr lang="ru-RU" sz="700" dirty="0">
                <a:ln w="0"/>
                <a:solidFill>
                  <a:schemeClr val="bg1">
                    <a:lumMod val="50000"/>
                  </a:schemeClr>
                </a:solidFill>
                <a:latin typeface="Bahnschrift SemiBold SemiConden" panose="020B0502040204020203" pitchFamily="34" charset="0"/>
              </a:rPr>
              <a:t>ОБЪЕКТОВ ГОРОДСОКОГО ХОЗЯЙСТВА</a:t>
            </a:r>
            <a:endParaRPr lang="ru-RU" sz="700" b="0" cap="none" spc="0" dirty="0">
              <a:ln w="0"/>
              <a:solidFill>
                <a:schemeClr val="bg1">
                  <a:lumMod val="50000"/>
                </a:schemeClr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1086292" y="731221"/>
            <a:ext cx="1880643" cy="20005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700" dirty="0">
                <a:ln w="0"/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SemiConden" panose="020B0502040204020203" pitchFamily="34" charset="0"/>
              </a:rPr>
              <a:t>ЮГО-ВОСТОЧНЫЙ АДМИНИСТРАТИВНЫЙ ОКРУГ</a:t>
            </a:r>
            <a:endParaRPr lang="ru-RU" sz="700" b="0" cap="none" spc="0" dirty="0">
              <a:ln w="0"/>
              <a:solidFill>
                <a:schemeClr val="tx1">
                  <a:lumMod val="75000"/>
                  <a:lumOff val="25000"/>
                </a:schemeClr>
              </a:solidFill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229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08F8E-F464-CA93-6D00-D95BF9AB1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F94C95-A3AA-F558-D456-5C4ED0D66F5F}"/>
              </a:ext>
            </a:extLst>
          </p:cNvPr>
          <p:cNvSpPr txBox="1"/>
          <p:nvPr/>
        </p:nvSpPr>
        <p:spPr>
          <a:xfrm>
            <a:off x="2225241" y="-289715"/>
            <a:ext cx="798853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defRPr sz="1800" b="1">
                <a:latin typeface="Calibri"/>
              </a:defRPr>
            </a:pPr>
            <a:r>
              <a:rPr dirty="0" err="1"/>
              <a:t>Динамика</a:t>
            </a:r>
            <a:r>
              <a:rPr dirty="0"/>
              <a:t> </a:t>
            </a:r>
            <a:r>
              <a:rPr dirty="0" err="1"/>
              <a:t>новых</a:t>
            </a:r>
            <a:r>
              <a:rPr dirty="0"/>
              <a:t> </a:t>
            </a:r>
            <a:r>
              <a:rPr dirty="0" err="1"/>
              <a:t>нарушений</a:t>
            </a:r>
            <a:r>
              <a:rPr dirty="0"/>
              <a:t> с </a:t>
            </a:r>
            <a:r>
              <a:rPr dirty="0" err="1"/>
              <a:t>просроком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отчетный</a:t>
            </a:r>
            <a:r>
              <a:rPr dirty="0"/>
              <a:t> </a:t>
            </a:r>
            <a:r>
              <a:rPr dirty="0" err="1"/>
              <a:t>период</a:t>
            </a:r>
            <a:endParaRPr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12CF864-A730-E909-1A8F-220E139B16E8}"/>
              </a:ext>
            </a:extLst>
          </p:cNvPr>
          <p:cNvSpPr/>
          <p:nvPr/>
        </p:nvSpPr>
        <p:spPr>
          <a:xfrm>
            <a:off x="7060756" y="5824728"/>
            <a:ext cx="4764024" cy="896112"/>
          </a:xfrm>
          <a:prstGeom prst="roundRect">
            <a:avLst/>
          </a:prstGeom>
          <a:noFill/>
          <a:ln w="18288">
            <a:solidFill>
              <a:srgbClr val="4472C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FB5BFC-DF36-E0E4-62CD-BC8842E79A16}"/>
              </a:ext>
            </a:extLst>
          </p:cNvPr>
          <p:cNvSpPr txBox="1"/>
          <p:nvPr/>
        </p:nvSpPr>
        <p:spPr>
          <a:xfrm>
            <a:off x="7060756" y="5916168"/>
            <a:ext cx="476402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latin typeface="Calibri"/>
              </a:defRPr>
            </a:pPr>
            <a:r>
              <a:rPr sz="900"/>
              <a:t>     Район        - Район с отрицательной динамикой по количеству просроченных сообщений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0722620-BDB3-61CB-88B6-1097ABB687DC}"/>
              </a:ext>
            </a:extLst>
          </p:cNvPr>
          <p:cNvSpPr/>
          <p:nvPr/>
        </p:nvSpPr>
        <p:spPr>
          <a:xfrm>
            <a:off x="7161340" y="5934456"/>
            <a:ext cx="512064" cy="201168"/>
          </a:xfrm>
          <a:prstGeom prst="roundRect">
            <a:avLst/>
          </a:prstGeom>
          <a:noFill/>
          <a:ln w="18288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0D989A-0E3E-4F96-17B4-C694736CA0BB}"/>
              </a:ext>
            </a:extLst>
          </p:cNvPr>
          <p:cNvSpPr txBox="1"/>
          <p:nvPr/>
        </p:nvSpPr>
        <p:spPr>
          <a:xfrm>
            <a:off x="1329409" y="5829253"/>
            <a:ext cx="189769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latin typeface="Calibri"/>
              </a:defRPr>
            </a:pPr>
            <a:r>
              <a:rPr lang="ru-RU" sz="1200" dirty="0"/>
              <a:t>328</a:t>
            </a:r>
            <a:r>
              <a:rPr sz="1200" dirty="0"/>
              <a:t> </a:t>
            </a:r>
            <a:r>
              <a:rPr sz="1200" dirty="0" err="1"/>
              <a:t>за</a:t>
            </a:r>
            <a:r>
              <a:rPr sz="1200" dirty="0"/>
              <a:t> </a:t>
            </a:r>
            <a:r>
              <a:rPr sz="1200" dirty="0" err="1"/>
              <a:t>прошедш</a:t>
            </a:r>
            <a:r>
              <a:rPr lang="ru-RU" sz="1200" dirty="0" err="1"/>
              <a:t>ий</a:t>
            </a:r>
            <a:r>
              <a:rPr lang="ru-RU" sz="1200" dirty="0"/>
              <a:t> месяц</a:t>
            </a:r>
            <a:endParaRPr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6780D3-8164-6643-0CC7-7E9938CA5FAF}"/>
              </a:ext>
            </a:extLst>
          </p:cNvPr>
          <p:cNvSpPr txBox="1"/>
          <p:nvPr/>
        </p:nvSpPr>
        <p:spPr>
          <a:xfrm>
            <a:off x="3305656" y="5829252"/>
            <a:ext cx="227068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latin typeface="Calibri"/>
              </a:defRPr>
            </a:pPr>
            <a:r>
              <a:rPr lang="ru-RU" sz="1200" dirty="0"/>
              <a:t>336</a:t>
            </a:r>
            <a:r>
              <a:rPr sz="1200" dirty="0"/>
              <a:t> </a:t>
            </a:r>
            <a:r>
              <a:rPr sz="1200" dirty="0" err="1"/>
              <a:t>за</a:t>
            </a:r>
            <a:r>
              <a:rPr sz="1200" dirty="0"/>
              <a:t> </a:t>
            </a:r>
            <a:r>
              <a:rPr sz="1200" dirty="0" err="1"/>
              <a:t>отчетн</a:t>
            </a:r>
            <a:r>
              <a:rPr lang="ru-RU" sz="1200" dirty="0" err="1"/>
              <a:t>ый</a:t>
            </a:r>
            <a:r>
              <a:rPr sz="1200" dirty="0"/>
              <a:t> </a:t>
            </a:r>
            <a:r>
              <a:rPr lang="ru-RU" sz="1200" dirty="0"/>
              <a:t>месяц</a:t>
            </a:r>
            <a:r>
              <a:rPr sz="1200" dirty="0"/>
              <a:t> (</a:t>
            </a:r>
            <a:r>
              <a:rPr sz="1200" dirty="0" err="1"/>
              <a:t>новые</a:t>
            </a:r>
            <a:r>
              <a:rPr sz="1200" dirty="0"/>
              <a:t>)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2256DF5-FE20-07BD-4A34-0AF95A841A31}"/>
              </a:ext>
            </a:extLst>
          </p:cNvPr>
          <p:cNvSpPr/>
          <p:nvPr/>
        </p:nvSpPr>
        <p:spPr>
          <a:xfrm>
            <a:off x="7261924" y="6260078"/>
            <a:ext cx="356616" cy="341889"/>
          </a:xfrm>
          <a:prstGeom prst="ellipse">
            <a:avLst/>
          </a:prstGeom>
          <a:noFill/>
          <a:ln w="18288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71B7DF-0993-AA8B-DE95-4541100B8793}"/>
              </a:ext>
            </a:extLst>
          </p:cNvPr>
          <p:cNvSpPr txBox="1"/>
          <p:nvPr/>
        </p:nvSpPr>
        <p:spPr>
          <a:xfrm>
            <a:off x="7271068" y="6291073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latin typeface="Calibri"/>
              </a:defRPr>
            </a:pPr>
            <a:r>
              <a:rPr sz="1200"/>
              <a:t>15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9B301F-B00C-AFDE-9C09-6360021E36C7}"/>
              </a:ext>
            </a:extLst>
          </p:cNvPr>
          <p:cNvSpPr txBox="1"/>
          <p:nvPr/>
        </p:nvSpPr>
        <p:spPr>
          <a:xfrm>
            <a:off x="7700836" y="6309361"/>
            <a:ext cx="25715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rPr sz="1000"/>
              <a:t>- Прирост просроченных сообщений, топ 3</a:t>
            </a:r>
          </a:p>
        </p:txBody>
      </p:sp>
      <p:graphicFrame>
        <p:nvGraphicFramePr>
          <p:cNvPr id="13" name="Диаграмма 12">
            <a:extLst>
              <a:ext uri="{FF2B5EF4-FFF2-40B4-BE49-F238E27FC236}">
                <a16:creationId xmlns:a16="http://schemas.microsoft.com/office/drawing/2014/main" id="{3C326FC7-C3E0-FDFC-F6A6-66DE0DEDBD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8062317"/>
              </p:ext>
            </p:extLst>
          </p:nvPr>
        </p:nvGraphicFramePr>
        <p:xfrm>
          <a:off x="461818" y="669358"/>
          <a:ext cx="11139053" cy="51214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C1757499-EC7C-09D1-ED93-23862DA54B87}"/>
              </a:ext>
            </a:extLst>
          </p:cNvPr>
          <p:cNvCxnSpPr>
            <a:cxnSpLocks/>
          </p:cNvCxnSpPr>
          <p:nvPr/>
        </p:nvCxnSpPr>
        <p:spPr>
          <a:xfrm flipV="1">
            <a:off x="1234110" y="2957964"/>
            <a:ext cx="0" cy="30151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974F182-E82E-FB7B-6075-F6B95B740678}"/>
              </a:ext>
            </a:extLst>
          </p:cNvPr>
          <p:cNvSpPr txBox="1"/>
          <p:nvPr/>
        </p:nvSpPr>
        <p:spPr>
          <a:xfrm>
            <a:off x="1059074" y="2694127"/>
            <a:ext cx="498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/>
              <a:t>+2</a:t>
            </a: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AC2E5001-E47E-56A1-39F5-A3E7A04363ED}"/>
              </a:ext>
            </a:extLst>
          </p:cNvPr>
          <p:cNvCxnSpPr>
            <a:cxnSpLocks/>
          </p:cNvCxnSpPr>
          <p:nvPr/>
        </p:nvCxnSpPr>
        <p:spPr>
          <a:xfrm>
            <a:off x="2104600" y="2539676"/>
            <a:ext cx="0" cy="250724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FDD10AF-4122-2619-4F14-4AC3D091BAE1}"/>
              </a:ext>
            </a:extLst>
          </p:cNvPr>
          <p:cNvSpPr txBox="1"/>
          <p:nvPr/>
        </p:nvSpPr>
        <p:spPr>
          <a:xfrm>
            <a:off x="1933984" y="2254928"/>
            <a:ext cx="498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/>
              <a:t>-5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A5076B-546C-4E24-AD30-9F8451F28607}"/>
              </a:ext>
            </a:extLst>
          </p:cNvPr>
          <p:cNvSpPr txBox="1"/>
          <p:nvPr/>
        </p:nvSpPr>
        <p:spPr>
          <a:xfrm>
            <a:off x="4230714" y="368872"/>
            <a:ext cx="4832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/>
              <a:t>+12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C56D91-EC57-54DA-834A-FEDCFB5CB71B}"/>
              </a:ext>
            </a:extLst>
          </p:cNvPr>
          <p:cNvSpPr txBox="1"/>
          <p:nvPr/>
        </p:nvSpPr>
        <p:spPr>
          <a:xfrm>
            <a:off x="5868438" y="2010717"/>
            <a:ext cx="498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/>
              <a:t>+7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DA14C12-0F5E-7C12-BC4B-D5CE4AF9970E}"/>
              </a:ext>
            </a:extLst>
          </p:cNvPr>
          <p:cNvSpPr txBox="1"/>
          <p:nvPr/>
        </p:nvSpPr>
        <p:spPr>
          <a:xfrm>
            <a:off x="3513783" y="368872"/>
            <a:ext cx="498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/>
              <a:t>-10</a:t>
            </a:r>
          </a:p>
        </p:txBody>
      </p: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8A7DE690-0407-DF64-A765-F089095D9F88}"/>
              </a:ext>
            </a:extLst>
          </p:cNvPr>
          <p:cNvCxnSpPr>
            <a:cxnSpLocks/>
          </p:cNvCxnSpPr>
          <p:nvPr/>
        </p:nvCxnSpPr>
        <p:spPr>
          <a:xfrm>
            <a:off x="6967802" y="3567500"/>
            <a:ext cx="0" cy="250724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F393DA6-B805-AE42-CF73-C05247965AFF}"/>
              </a:ext>
            </a:extLst>
          </p:cNvPr>
          <p:cNvSpPr txBox="1"/>
          <p:nvPr/>
        </p:nvSpPr>
        <p:spPr>
          <a:xfrm>
            <a:off x="6790424" y="3290500"/>
            <a:ext cx="471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/>
              <a:t>-2</a:t>
            </a:r>
          </a:p>
        </p:txBody>
      </p: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3350465D-F0C7-391D-07DF-0F7508282852}"/>
              </a:ext>
            </a:extLst>
          </p:cNvPr>
          <p:cNvCxnSpPr>
            <a:cxnSpLocks/>
          </p:cNvCxnSpPr>
          <p:nvPr/>
        </p:nvCxnSpPr>
        <p:spPr>
          <a:xfrm>
            <a:off x="3707861" y="645871"/>
            <a:ext cx="0" cy="250724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099516F2-ED71-234D-0DD1-3C509DC1EDF7}"/>
              </a:ext>
            </a:extLst>
          </p:cNvPr>
          <p:cNvCxnSpPr>
            <a:cxnSpLocks/>
          </p:cNvCxnSpPr>
          <p:nvPr/>
        </p:nvCxnSpPr>
        <p:spPr>
          <a:xfrm flipV="1">
            <a:off x="4454622" y="645871"/>
            <a:ext cx="0" cy="30151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9D54990E-FC9F-017B-8EBE-8EB5B33ED212}"/>
              </a:ext>
            </a:extLst>
          </p:cNvPr>
          <p:cNvCxnSpPr>
            <a:cxnSpLocks/>
          </p:cNvCxnSpPr>
          <p:nvPr/>
        </p:nvCxnSpPr>
        <p:spPr>
          <a:xfrm flipV="1">
            <a:off x="6088075" y="2307827"/>
            <a:ext cx="0" cy="30151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333AC9F-6AC4-5982-96D1-E97B45FF7FB9}"/>
              </a:ext>
            </a:extLst>
          </p:cNvPr>
          <p:cNvSpPr txBox="1"/>
          <p:nvPr/>
        </p:nvSpPr>
        <p:spPr>
          <a:xfrm>
            <a:off x="8325370" y="1843012"/>
            <a:ext cx="498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/>
              <a:t>+10</a:t>
            </a:r>
          </a:p>
        </p:txBody>
      </p: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F6DF501D-F57F-D16E-2253-F86139CCB52B}"/>
              </a:ext>
            </a:extLst>
          </p:cNvPr>
          <p:cNvCxnSpPr>
            <a:cxnSpLocks/>
          </p:cNvCxnSpPr>
          <p:nvPr/>
        </p:nvCxnSpPr>
        <p:spPr>
          <a:xfrm flipV="1">
            <a:off x="8552930" y="2136960"/>
            <a:ext cx="0" cy="30151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5">
            <a:extLst>
              <a:ext uri="{FF2B5EF4-FFF2-40B4-BE49-F238E27FC236}">
                <a16:creationId xmlns:a16="http://schemas.microsoft.com/office/drawing/2014/main" id="{F617442B-CA97-A622-2A18-E3ED37B4B612}"/>
              </a:ext>
            </a:extLst>
          </p:cNvPr>
          <p:cNvSpPr/>
          <p:nvPr/>
        </p:nvSpPr>
        <p:spPr>
          <a:xfrm rot="18934671">
            <a:off x="582544" y="4558832"/>
            <a:ext cx="840107" cy="276999"/>
          </a:xfrm>
          <a:prstGeom prst="roundRect">
            <a:avLst/>
          </a:prstGeom>
          <a:noFill/>
          <a:ln w="18288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5">
            <a:extLst>
              <a:ext uri="{FF2B5EF4-FFF2-40B4-BE49-F238E27FC236}">
                <a16:creationId xmlns:a16="http://schemas.microsoft.com/office/drawing/2014/main" id="{D2A798BA-DD64-2944-02CB-9EA4F710AF50}"/>
              </a:ext>
            </a:extLst>
          </p:cNvPr>
          <p:cNvSpPr/>
          <p:nvPr/>
        </p:nvSpPr>
        <p:spPr>
          <a:xfrm rot="18934671">
            <a:off x="2396197" y="4508932"/>
            <a:ext cx="623114" cy="246432"/>
          </a:xfrm>
          <a:prstGeom prst="roundRect">
            <a:avLst/>
          </a:prstGeom>
          <a:noFill/>
          <a:ln w="18288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5">
            <a:extLst>
              <a:ext uri="{FF2B5EF4-FFF2-40B4-BE49-F238E27FC236}">
                <a16:creationId xmlns:a16="http://schemas.microsoft.com/office/drawing/2014/main" id="{3DA625C9-15B3-024A-6EE2-3F2215B6A435}"/>
              </a:ext>
            </a:extLst>
          </p:cNvPr>
          <p:cNvSpPr/>
          <p:nvPr/>
        </p:nvSpPr>
        <p:spPr>
          <a:xfrm rot="18934671">
            <a:off x="5601563" y="4521102"/>
            <a:ext cx="661227" cy="276999"/>
          </a:xfrm>
          <a:prstGeom prst="roundRect">
            <a:avLst/>
          </a:prstGeom>
          <a:noFill/>
          <a:ln w="18288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5">
            <a:extLst>
              <a:ext uri="{FF2B5EF4-FFF2-40B4-BE49-F238E27FC236}">
                <a16:creationId xmlns:a16="http://schemas.microsoft.com/office/drawing/2014/main" id="{07CEA17D-3B5E-C4A5-E693-37F7E606AF98}"/>
              </a:ext>
            </a:extLst>
          </p:cNvPr>
          <p:cNvSpPr/>
          <p:nvPr/>
        </p:nvSpPr>
        <p:spPr>
          <a:xfrm rot="18934671">
            <a:off x="4763517" y="4535525"/>
            <a:ext cx="711587" cy="276999"/>
          </a:xfrm>
          <a:prstGeom prst="roundRect">
            <a:avLst/>
          </a:prstGeom>
          <a:noFill/>
          <a:ln w="18288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5">
            <a:extLst>
              <a:ext uri="{FF2B5EF4-FFF2-40B4-BE49-F238E27FC236}">
                <a16:creationId xmlns:a16="http://schemas.microsoft.com/office/drawing/2014/main" id="{D922234A-22C4-CC96-517D-1573A9D11628}"/>
              </a:ext>
            </a:extLst>
          </p:cNvPr>
          <p:cNvSpPr/>
          <p:nvPr/>
        </p:nvSpPr>
        <p:spPr>
          <a:xfrm rot="18934671">
            <a:off x="7979473" y="4569683"/>
            <a:ext cx="771497" cy="276999"/>
          </a:xfrm>
          <a:prstGeom prst="roundRect">
            <a:avLst/>
          </a:prstGeom>
          <a:noFill/>
          <a:ln w="18288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8">
            <a:extLst>
              <a:ext uri="{FF2B5EF4-FFF2-40B4-BE49-F238E27FC236}">
                <a16:creationId xmlns:a16="http://schemas.microsoft.com/office/drawing/2014/main" id="{E920C027-02BD-A6E4-48C6-53A62B83E648}"/>
              </a:ext>
            </a:extLst>
          </p:cNvPr>
          <p:cNvSpPr/>
          <p:nvPr/>
        </p:nvSpPr>
        <p:spPr>
          <a:xfrm>
            <a:off x="8390675" y="1806133"/>
            <a:ext cx="324509" cy="292405"/>
          </a:xfrm>
          <a:prstGeom prst="ellipse">
            <a:avLst/>
          </a:prstGeom>
          <a:noFill/>
          <a:ln w="18288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0" name="Oval 8">
            <a:extLst>
              <a:ext uri="{FF2B5EF4-FFF2-40B4-BE49-F238E27FC236}">
                <a16:creationId xmlns:a16="http://schemas.microsoft.com/office/drawing/2014/main" id="{95BC4676-4EF6-9B63-9139-F046A9A4353C}"/>
              </a:ext>
            </a:extLst>
          </p:cNvPr>
          <p:cNvSpPr/>
          <p:nvPr/>
        </p:nvSpPr>
        <p:spPr>
          <a:xfrm>
            <a:off x="4277229" y="356616"/>
            <a:ext cx="324509" cy="292405"/>
          </a:xfrm>
          <a:prstGeom prst="ellipse">
            <a:avLst/>
          </a:prstGeom>
          <a:noFill/>
          <a:ln w="18288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7EDAB48A-D5AF-0455-C79F-BB6F27E8F3B4}"/>
              </a:ext>
            </a:extLst>
          </p:cNvPr>
          <p:cNvCxnSpPr>
            <a:cxnSpLocks/>
          </p:cNvCxnSpPr>
          <p:nvPr/>
        </p:nvCxnSpPr>
        <p:spPr>
          <a:xfrm flipV="1">
            <a:off x="2844637" y="3383418"/>
            <a:ext cx="0" cy="30151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6019975-2811-A5E0-B23A-322430E60AB6}"/>
              </a:ext>
            </a:extLst>
          </p:cNvPr>
          <p:cNvSpPr txBox="1"/>
          <p:nvPr/>
        </p:nvSpPr>
        <p:spPr>
          <a:xfrm>
            <a:off x="2669601" y="3119581"/>
            <a:ext cx="498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/>
              <a:t>+7</a:t>
            </a:r>
          </a:p>
        </p:txBody>
      </p:sp>
      <p:sp>
        <p:nvSpPr>
          <p:cNvPr id="34" name="Rounded Rectangle 5">
            <a:extLst>
              <a:ext uri="{FF2B5EF4-FFF2-40B4-BE49-F238E27FC236}">
                <a16:creationId xmlns:a16="http://schemas.microsoft.com/office/drawing/2014/main" id="{E142CA0F-5684-0FEC-0659-79F4631A0191}"/>
              </a:ext>
            </a:extLst>
          </p:cNvPr>
          <p:cNvSpPr/>
          <p:nvPr/>
        </p:nvSpPr>
        <p:spPr>
          <a:xfrm rot="18934671">
            <a:off x="3818561" y="4574186"/>
            <a:ext cx="871500" cy="246432"/>
          </a:xfrm>
          <a:prstGeom prst="roundRect">
            <a:avLst/>
          </a:prstGeom>
          <a:noFill/>
          <a:ln w="18288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B8D864-B5C3-5F2C-8C55-C04CC3C12F29}"/>
              </a:ext>
            </a:extLst>
          </p:cNvPr>
          <p:cNvSpPr txBox="1"/>
          <p:nvPr/>
        </p:nvSpPr>
        <p:spPr>
          <a:xfrm>
            <a:off x="5060674" y="1998960"/>
            <a:ext cx="4832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/>
              <a:t>+14</a:t>
            </a:r>
          </a:p>
        </p:txBody>
      </p: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DB22F834-D025-8623-0BD6-9553FB8226DE}"/>
              </a:ext>
            </a:extLst>
          </p:cNvPr>
          <p:cNvCxnSpPr>
            <a:cxnSpLocks/>
          </p:cNvCxnSpPr>
          <p:nvPr/>
        </p:nvCxnSpPr>
        <p:spPr>
          <a:xfrm flipV="1">
            <a:off x="5284582" y="2275959"/>
            <a:ext cx="0" cy="30151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 стрелкой 50">
            <a:extLst>
              <a:ext uri="{FF2B5EF4-FFF2-40B4-BE49-F238E27FC236}">
                <a16:creationId xmlns:a16="http://schemas.microsoft.com/office/drawing/2014/main" id="{08CDD6D5-77AA-F4E0-BF7B-95FBBE6E93C3}"/>
              </a:ext>
            </a:extLst>
          </p:cNvPr>
          <p:cNvCxnSpPr>
            <a:cxnSpLocks/>
          </p:cNvCxnSpPr>
          <p:nvPr/>
        </p:nvCxnSpPr>
        <p:spPr>
          <a:xfrm>
            <a:off x="7794080" y="3320790"/>
            <a:ext cx="0" cy="250724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47F56BF-C091-CDBB-7E1A-4608B3196F7F}"/>
              </a:ext>
            </a:extLst>
          </p:cNvPr>
          <p:cNvSpPr txBox="1"/>
          <p:nvPr/>
        </p:nvSpPr>
        <p:spPr>
          <a:xfrm>
            <a:off x="7616702" y="3043790"/>
            <a:ext cx="471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/>
              <a:t>-1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D9A3884-DA2E-96A3-B736-3D5EFEDED41A}"/>
              </a:ext>
            </a:extLst>
          </p:cNvPr>
          <p:cNvSpPr txBox="1"/>
          <p:nvPr/>
        </p:nvSpPr>
        <p:spPr>
          <a:xfrm>
            <a:off x="9250345" y="1479422"/>
            <a:ext cx="498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/>
              <a:t>-3</a:t>
            </a:r>
          </a:p>
        </p:txBody>
      </p:sp>
      <p:cxnSp>
        <p:nvCxnSpPr>
          <p:cNvPr id="56" name="Прямая со стрелкой 55">
            <a:extLst>
              <a:ext uri="{FF2B5EF4-FFF2-40B4-BE49-F238E27FC236}">
                <a16:creationId xmlns:a16="http://schemas.microsoft.com/office/drawing/2014/main" id="{E948B360-8F24-F4BE-322F-39B2FE8CAEF1}"/>
              </a:ext>
            </a:extLst>
          </p:cNvPr>
          <p:cNvCxnSpPr>
            <a:cxnSpLocks/>
          </p:cNvCxnSpPr>
          <p:nvPr/>
        </p:nvCxnSpPr>
        <p:spPr>
          <a:xfrm>
            <a:off x="9444423" y="1756421"/>
            <a:ext cx="0" cy="250724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55DA45E0-2D75-65E2-6058-AAF0B3057EDF}"/>
              </a:ext>
            </a:extLst>
          </p:cNvPr>
          <p:cNvSpPr txBox="1"/>
          <p:nvPr/>
        </p:nvSpPr>
        <p:spPr>
          <a:xfrm>
            <a:off x="10071341" y="1994240"/>
            <a:ext cx="498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/>
              <a:t>-18</a:t>
            </a:r>
          </a:p>
        </p:txBody>
      </p:sp>
      <p:cxnSp>
        <p:nvCxnSpPr>
          <p:cNvPr id="58" name="Прямая со стрелкой 57">
            <a:extLst>
              <a:ext uri="{FF2B5EF4-FFF2-40B4-BE49-F238E27FC236}">
                <a16:creationId xmlns:a16="http://schemas.microsoft.com/office/drawing/2014/main" id="{14F1EF1D-2E22-B025-F967-3D23FDBE2AEA}"/>
              </a:ext>
            </a:extLst>
          </p:cNvPr>
          <p:cNvCxnSpPr>
            <a:cxnSpLocks/>
          </p:cNvCxnSpPr>
          <p:nvPr/>
        </p:nvCxnSpPr>
        <p:spPr>
          <a:xfrm>
            <a:off x="10265419" y="2271239"/>
            <a:ext cx="0" cy="250724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EA797711-A375-05F8-37B6-295E71D7C1FC}"/>
              </a:ext>
            </a:extLst>
          </p:cNvPr>
          <p:cNvSpPr txBox="1"/>
          <p:nvPr/>
        </p:nvSpPr>
        <p:spPr>
          <a:xfrm>
            <a:off x="10883426" y="2555627"/>
            <a:ext cx="498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/>
              <a:t>-5</a:t>
            </a:r>
          </a:p>
        </p:txBody>
      </p:sp>
      <p:cxnSp>
        <p:nvCxnSpPr>
          <p:cNvPr id="60" name="Прямая со стрелкой 59">
            <a:extLst>
              <a:ext uri="{FF2B5EF4-FFF2-40B4-BE49-F238E27FC236}">
                <a16:creationId xmlns:a16="http://schemas.microsoft.com/office/drawing/2014/main" id="{F7D01848-0A40-998E-D951-03969A140AD1}"/>
              </a:ext>
            </a:extLst>
          </p:cNvPr>
          <p:cNvCxnSpPr>
            <a:cxnSpLocks/>
          </p:cNvCxnSpPr>
          <p:nvPr/>
        </p:nvCxnSpPr>
        <p:spPr>
          <a:xfrm>
            <a:off x="11077504" y="2832626"/>
            <a:ext cx="0" cy="250724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7281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763" y="482814"/>
            <a:ext cx="11093946" cy="1041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lnSpc>
                <a:spcPts val="2500"/>
              </a:lnSpc>
              <a:defRPr sz="2800" b="1">
                <a:solidFill>
                  <a:prstClr val="black"/>
                </a:solidFill>
                <a:latin typeface="Sitka Subheading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</a:lstStyle>
          <a:p>
            <a:r>
              <a:rPr lang="ru-RU" sz="2000" dirty="0">
                <a:latin typeface="+mn-lt"/>
              </a:rPr>
              <a:t>Качество/своевременность исполнения обращений жителей по данным системы мониторинга содержания объектов городского хозяйства</a:t>
            </a:r>
            <a:r>
              <a:rPr lang="en-US" sz="2000" dirty="0">
                <a:latin typeface="+mn-lt"/>
              </a:rPr>
              <a:t>, </a:t>
            </a:r>
          </a:p>
          <a:p>
            <a:r>
              <a:rPr lang="ru-RU" sz="2000" b="1" dirty="0">
                <a:solidFill>
                  <a:prstClr val="black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</a:rPr>
              <a:t>% за</a:t>
            </a:r>
            <a:r>
              <a:rPr lang="en-US" sz="2000" b="1" dirty="0">
                <a:solidFill>
                  <a:prstClr val="black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latin typeface="+mn-lt"/>
                <a:ea typeface="Microsoft Sans Serif" panose="020B0604020202020204" pitchFamily="34" charset="0"/>
                <a:cs typeface="Segoe UI Semilight" panose="020B0402040204020203" pitchFamily="34" charset="0"/>
              </a:rPr>
              <a:t>0</a:t>
            </a:r>
            <a:r>
              <a:rPr lang="ru-RU" sz="2000" b="1" dirty="0">
                <a:solidFill>
                  <a:prstClr val="black"/>
                </a:solidFill>
                <a:latin typeface="+mn-lt"/>
                <a:ea typeface="Microsoft Sans Serif" panose="020B0604020202020204" pitchFamily="34" charset="0"/>
                <a:cs typeface="Segoe UI Semilight" panose="020B0402040204020203" pitchFamily="34" charset="0"/>
              </a:rPr>
              <a:t>1.</a:t>
            </a:r>
            <a:r>
              <a:rPr lang="en-US" sz="2000" b="1" dirty="0">
                <a:solidFill>
                  <a:prstClr val="black"/>
                </a:solidFill>
                <a:latin typeface="+mn-lt"/>
                <a:ea typeface="Microsoft Sans Serif" panose="020B0604020202020204" pitchFamily="34" charset="0"/>
                <a:cs typeface="Segoe UI Semilight" panose="020B0402040204020203" pitchFamily="34" charset="0"/>
              </a:rPr>
              <a:t>0</a:t>
            </a:r>
            <a:r>
              <a:rPr lang="ru-RU" sz="2000" b="1" dirty="0">
                <a:solidFill>
                  <a:prstClr val="black"/>
                </a:solidFill>
                <a:latin typeface="+mn-lt"/>
                <a:ea typeface="Microsoft Sans Serif" panose="020B0604020202020204" pitchFamily="34" charset="0"/>
                <a:cs typeface="Segoe UI Semilight" panose="020B0402040204020203" pitchFamily="34" charset="0"/>
              </a:rPr>
              <a:t>6.2</a:t>
            </a:r>
            <a:r>
              <a:rPr lang="en-US" sz="2000" b="1" dirty="0">
                <a:solidFill>
                  <a:prstClr val="black"/>
                </a:solidFill>
                <a:latin typeface="+mn-lt"/>
                <a:ea typeface="Microsoft Sans Serif" panose="020B0604020202020204" pitchFamily="34" charset="0"/>
                <a:cs typeface="Segoe UI Semilight" panose="020B0402040204020203" pitchFamily="34" charset="0"/>
              </a:rPr>
              <a:t>5</a:t>
            </a:r>
            <a:r>
              <a:rPr lang="ru-RU" sz="2000" b="1" dirty="0">
                <a:solidFill>
                  <a:prstClr val="black"/>
                </a:solidFill>
                <a:latin typeface="+mn-lt"/>
                <a:ea typeface="Microsoft Sans Serif" panose="020B0604020202020204" pitchFamily="34" charset="0"/>
                <a:cs typeface="Segoe UI Semilight" panose="020B0402040204020203" pitchFamily="34" charset="0"/>
              </a:rPr>
              <a:t>-30.</a:t>
            </a:r>
            <a:r>
              <a:rPr lang="en-US" sz="2000" b="1" dirty="0">
                <a:solidFill>
                  <a:prstClr val="black"/>
                </a:solidFill>
                <a:latin typeface="+mn-lt"/>
                <a:ea typeface="Microsoft Sans Serif" panose="020B0604020202020204" pitchFamily="34" charset="0"/>
                <a:cs typeface="Segoe UI Semilight" panose="020B0402040204020203" pitchFamily="34" charset="0"/>
              </a:rPr>
              <a:t>0</a:t>
            </a:r>
            <a:r>
              <a:rPr lang="ru-RU" sz="2000" b="1" dirty="0">
                <a:solidFill>
                  <a:prstClr val="black"/>
                </a:solidFill>
                <a:latin typeface="+mn-lt"/>
                <a:ea typeface="Microsoft Sans Serif" panose="020B0604020202020204" pitchFamily="34" charset="0"/>
                <a:cs typeface="Segoe UI Semilight" panose="020B0402040204020203" pitchFamily="34" charset="0"/>
              </a:rPr>
              <a:t>6.2</a:t>
            </a:r>
            <a:r>
              <a:rPr lang="en-US" sz="2000" b="1" dirty="0">
                <a:solidFill>
                  <a:prstClr val="black"/>
                </a:solidFill>
                <a:latin typeface="+mn-lt"/>
                <a:ea typeface="Microsoft Sans Serif" panose="020B0604020202020204" pitchFamily="34" charset="0"/>
                <a:cs typeface="Segoe UI Semilight" panose="020B0402040204020203" pitchFamily="34" charset="0"/>
              </a:rPr>
              <a:t>5</a:t>
            </a:r>
            <a:r>
              <a:rPr lang="ru-RU" sz="2000" b="1" dirty="0">
                <a:solidFill>
                  <a:prstClr val="black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endParaRPr lang="ru-RU" sz="2000" dirty="0">
              <a:latin typeface="+mn-lt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8593509" y="6414845"/>
            <a:ext cx="2743200" cy="365125"/>
          </a:xfrm>
        </p:spPr>
        <p:txBody>
          <a:bodyPr/>
          <a:lstStyle/>
          <a:p>
            <a:fld id="{03746E25-CFA6-45EB-B137-D2E9891C60CA}" type="slidenum">
              <a:rPr lang="ru-RU" smtClean="0"/>
              <a:t>3</a:t>
            </a:fld>
            <a:endParaRPr lang="ru-RU" dirty="0"/>
          </a:p>
        </p:txBody>
      </p:sp>
      <p:sp>
        <p:nvSpPr>
          <p:cNvPr id="82" name="Скругленный прямоугольник 35">
            <a:extLst>
              <a:ext uri="{FF2B5EF4-FFF2-40B4-BE49-F238E27FC236}">
                <a16:creationId xmlns:a16="http://schemas.microsoft.com/office/drawing/2014/main" id="{A371AC80-8694-00AD-CE64-2A66D81EF9F6}"/>
              </a:ext>
            </a:extLst>
          </p:cNvPr>
          <p:cNvSpPr/>
          <p:nvPr/>
        </p:nvSpPr>
        <p:spPr>
          <a:xfrm>
            <a:off x="4280128" y="5369572"/>
            <a:ext cx="3821256" cy="751858"/>
          </a:xfrm>
          <a:prstGeom prst="roundRect">
            <a:avLst/>
          </a:prstGeom>
          <a:noFill/>
          <a:ln w="19050"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3" name="Скругленный прямоугольник 32">
            <a:extLst>
              <a:ext uri="{FF2B5EF4-FFF2-40B4-BE49-F238E27FC236}">
                <a16:creationId xmlns:a16="http://schemas.microsoft.com/office/drawing/2014/main" id="{7FA0AC4B-B0C5-1EF3-0754-59EBA70D1EEE}"/>
              </a:ext>
            </a:extLst>
          </p:cNvPr>
          <p:cNvSpPr/>
          <p:nvPr/>
        </p:nvSpPr>
        <p:spPr>
          <a:xfrm>
            <a:off x="4393905" y="5485814"/>
            <a:ext cx="266700" cy="153725"/>
          </a:xfrm>
          <a:prstGeom prst="roundRect">
            <a:avLst/>
          </a:prstGeom>
          <a:solidFill>
            <a:srgbClr val="F6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8" name="Прямоугольник 87">
            <a:extLst>
              <a:ext uri="{FF2B5EF4-FFF2-40B4-BE49-F238E27FC236}">
                <a16:creationId xmlns:a16="http://schemas.microsoft.com/office/drawing/2014/main" id="{29F27D35-B891-01A5-05E5-169431DDBABF}"/>
              </a:ext>
            </a:extLst>
          </p:cNvPr>
          <p:cNvSpPr/>
          <p:nvPr/>
        </p:nvSpPr>
        <p:spPr>
          <a:xfrm>
            <a:off x="4611370" y="5454832"/>
            <a:ext cx="1396536" cy="21544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800" b="1" dirty="0"/>
              <a:t>Процент исполнения </a:t>
            </a:r>
            <a:r>
              <a:rPr lang="en-US" sz="800" b="1" dirty="0"/>
              <a:t>&lt;</a:t>
            </a:r>
            <a:r>
              <a:rPr lang="ru-RU" sz="800" b="1" dirty="0"/>
              <a:t> 90%</a:t>
            </a:r>
          </a:p>
        </p:txBody>
      </p:sp>
      <p:sp>
        <p:nvSpPr>
          <p:cNvPr id="89" name="Скругленный прямоугольник 42">
            <a:extLst>
              <a:ext uri="{FF2B5EF4-FFF2-40B4-BE49-F238E27FC236}">
                <a16:creationId xmlns:a16="http://schemas.microsoft.com/office/drawing/2014/main" id="{B804617F-29B0-747C-77C9-4C9568650451}"/>
              </a:ext>
            </a:extLst>
          </p:cNvPr>
          <p:cNvSpPr/>
          <p:nvPr/>
        </p:nvSpPr>
        <p:spPr>
          <a:xfrm>
            <a:off x="4393905" y="5815992"/>
            <a:ext cx="266700" cy="153725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0" name="Прямоугольник 89">
            <a:extLst>
              <a:ext uri="{FF2B5EF4-FFF2-40B4-BE49-F238E27FC236}">
                <a16:creationId xmlns:a16="http://schemas.microsoft.com/office/drawing/2014/main" id="{C089635C-9349-3866-DE9A-C78EED704C5E}"/>
              </a:ext>
            </a:extLst>
          </p:cNvPr>
          <p:cNvSpPr/>
          <p:nvPr/>
        </p:nvSpPr>
        <p:spPr>
          <a:xfrm>
            <a:off x="4611370" y="5797136"/>
            <a:ext cx="1719152" cy="21544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700" b="1" dirty="0">
                <a:ln w="0"/>
              </a:rPr>
              <a:t>Процент</a:t>
            </a:r>
            <a:r>
              <a:rPr lang="ru-RU" sz="800" b="1" dirty="0">
                <a:ln w="0"/>
              </a:rPr>
              <a:t> исполнения </a:t>
            </a:r>
            <a:r>
              <a:rPr lang="en-US" sz="800" b="1" dirty="0">
                <a:ln w="0"/>
              </a:rPr>
              <a:t>&lt; 95</a:t>
            </a:r>
            <a:r>
              <a:rPr lang="ru-RU" sz="800" b="1" dirty="0">
                <a:ln w="0"/>
              </a:rPr>
              <a:t>%</a:t>
            </a:r>
          </a:p>
        </p:txBody>
      </p:sp>
      <p:sp>
        <p:nvSpPr>
          <p:cNvPr id="91" name="Скругленный прямоугольник 44">
            <a:extLst>
              <a:ext uri="{FF2B5EF4-FFF2-40B4-BE49-F238E27FC236}">
                <a16:creationId xmlns:a16="http://schemas.microsoft.com/office/drawing/2014/main" id="{9D52B048-D252-8260-9E08-A1C28D25E932}"/>
              </a:ext>
            </a:extLst>
          </p:cNvPr>
          <p:cNvSpPr/>
          <p:nvPr/>
        </p:nvSpPr>
        <p:spPr>
          <a:xfrm>
            <a:off x="6249041" y="5483537"/>
            <a:ext cx="266700" cy="15372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AD1B2D81-17A0-E22C-F3A2-B8C277807A70}"/>
              </a:ext>
            </a:extLst>
          </p:cNvPr>
          <p:cNvSpPr/>
          <p:nvPr/>
        </p:nvSpPr>
        <p:spPr>
          <a:xfrm>
            <a:off x="6472093" y="5454832"/>
            <a:ext cx="1425390" cy="21544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800" b="1" dirty="0">
                <a:ln w="0"/>
              </a:rPr>
              <a:t>Процент исполнения </a:t>
            </a:r>
            <a:r>
              <a:rPr lang="en-US" sz="800" b="1" dirty="0">
                <a:ln w="0"/>
              </a:rPr>
              <a:t>&lt;100%</a:t>
            </a:r>
            <a:endParaRPr lang="ru-RU" sz="800" b="1" dirty="0">
              <a:ln w="0"/>
            </a:endParaRPr>
          </a:p>
        </p:txBody>
      </p:sp>
      <p:sp>
        <p:nvSpPr>
          <p:cNvPr id="93" name="Скругленный прямоугольник 46">
            <a:extLst>
              <a:ext uri="{FF2B5EF4-FFF2-40B4-BE49-F238E27FC236}">
                <a16:creationId xmlns:a16="http://schemas.microsoft.com/office/drawing/2014/main" id="{BD5DF027-D460-975D-769D-6A7D661A96ED}"/>
              </a:ext>
            </a:extLst>
          </p:cNvPr>
          <p:cNvSpPr/>
          <p:nvPr/>
        </p:nvSpPr>
        <p:spPr>
          <a:xfrm>
            <a:off x="6261470" y="5807464"/>
            <a:ext cx="266700" cy="153725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4" name="Прямоугольник 93">
            <a:extLst>
              <a:ext uri="{FF2B5EF4-FFF2-40B4-BE49-F238E27FC236}">
                <a16:creationId xmlns:a16="http://schemas.microsoft.com/office/drawing/2014/main" id="{3947CEBD-4D1E-8648-6831-D484C1D4FCEB}"/>
              </a:ext>
            </a:extLst>
          </p:cNvPr>
          <p:cNvSpPr/>
          <p:nvPr/>
        </p:nvSpPr>
        <p:spPr>
          <a:xfrm>
            <a:off x="6540083" y="5778881"/>
            <a:ext cx="1407758" cy="21544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800" b="1" dirty="0">
                <a:ln w="0"/>
              </a:rPr>
              <a:t>Процент исполнения </a:t>
            </a:r>
            <a:r>
              <a:rPr lang="en-US" sz="800" b="1" dirty="0">
                <a:ln w="0"/>
              </a:rPr>
              <a:t>100%</a:t>
            </a:r>
            <a:endParaRPr lang="ru-RU" sz="800" b="1" dirty="0">
              <a:ln w="0"/>
            </a:endParaRP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7904BC7C-16B6-8290-1323-1C663E42FE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5935784"/>
              </p:ext>
            </p:extLst>
          </p:nvPr>
        </p:nvGraphicFramePr>
        <p:xfrm>
          <a:off x="2763022" y="1734788"/>
          <a:ext cx="6958795" cy="3341370"/>
        </p:xfrm>
        <a:graphic>
          <a:graphicData uri="http://schemas.openxmlformats.org/drawingml/2006/table">
            <a:tbl>
              <a:tblPr/>
              <a:tblGrid>
                <a:gridCol w="3484753">
                  <a:extLst>
                    <a:ext uri="{9D8B030D-6E8A-4147-A177-3AD203B41FA5}">
                      <a16:colId xmlns:a16="http://schemas.microsoft.com/office/drawing/2014/main" val="1092078342"/>
                    </a:ext>
                  </a:extLst>
                </a:gridCol>
                <a:gridCol w="1188958">
                  <a:extLst>
                    <a:ext uri="{9D8B030D-6E8A-4147-A177-3AD203B41FA5}">
                      <a16:colId xmlns:a16="http://schemas.microsoft.com/office/drawing/2014/main" val="4032477372"/>
                    </a:ext>
                  </a:extLst>
                </a:gridCol>
                <a:gridCol w="1085415">
                  <a:extLst>
                    <a:ext uri="{9D8B030D-6E8A-4147-A177-3AD203B41FA5}">
                      <a16:colId xmlns:a16="http://schemas.microsoft.com/office/drawing/2014/main" val="3185949611"/>
                    </a:ext>
                  </a:extLst>
                </a:gridCol>
                <a:gridCol w="1199669">
                  <a:extLst>
                    <a:ext uri="{9D8B030D-6E8A-4147-A177-3AD203B41FA5}">
                      <a16:colId xmlns:a16="http://schemas.microsoft.com/office/drawing/2014/main" val="3043303176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Район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Просроченные (новые) </a:t>
                      </a:r>
                      <a:r>
                        <a:rPr lang="en-US" sz="1200" b="1" dirty="0">
                          <a:solidFill>
                            <a:prstClr val="black"/>
                          </a:solidFill>
                          <a:latin typeface="+mn-lt"/>
                          <a:ea typeface="Microsoft Sans Serif" panose="020B0604020202020204" pitchFamily="34" charset="0"/>
                          <a:cs typeface="Segoe UI Semilight" panose="020B0402040204020203" pitchFamily="34" charset="0"/>
                        </a:rPr>
                        <a:t>0</a:t>
                      </a:r>
                      <a:r>
                        <a:rPr lang="ru-RU" sz="1200" b="1" dirty="0">
                          <a:solidFill>
                            <a:prstClr val="black"/>
                          </a:solidFill>
                          <a:latin typeface="+mn-lt"/>
                          <a:ea typeface="Microsoft Sans Serif" panose="020B0604020202020204" pitchFamily="34" charset="0"/>
                          <a:cs typeface="Segoe UI Semilight" panose="020B0402040204020203" pitchFamily="34" charset="0"/>
                        </a:rPr>
                        <a:t>1.</a:t>
                      </a:r>
                      <a:r>
                        <a:rPr lang="en-US" sz="1200" b="1" dirty="0">
                          <a:solidFill>
                            <a:prstClr val="black"/>
                          </a:solidFill>
                          <a:latin typeface="+mn-lt"/>
                          <a:ea typeface="Microsoft Sans Serif" panose="020B0604020202020204" pitchFamily="34" charset="0"/>
                          <a:cs typeface="Segoe UI Semilight" panose="020B0402040204020203" pitchFamily="34" charset="0"/>
                        </a:rPr>
                        <a:t>0</a:t>
                      </a:r>
                      <a:r>
                        <a:rPr lang="ru-RU" sz="1200" b="1" dirty="0">
                          <a:solidFill>
                            <a:prstClr val="black"/>
                          </a:solidFill>
                          <a:latin typeface="+mn-lt"/>
                          <a:ea typeface="Microsoft Sans Serif" panose="020B0604020202020204" pitchFamily="34" charset="0"/>
                          <a:cs typeface="Segoe UI Semilight" panose="020B0402040204020203" pitchFamily="34" charset="0"/>
                        </a:rPr>
                        <a:t>6.2</a:t>
                      </a:r>
                      <a:r>
                        <a:rPr lang="en-US" sz="1200" b="1" dirty="0">
                          <a:solidFill>
                            <a:prstClr val="black"/>
                          </a:solidFill>
                          <a:latin typeface="+mn-lt"/>
                          <a:ea typeface="Microsoft Sans Serif" panose="020B0604020202020204" pitchFamily="34" charset="0"/>
                          <a:cs typeface="Segoe UI Semilight" panose="020B0402040204020203" pitchFamily="34" charset="0"/>
                        </a:rPr>
                        <a:t>5</a:t>
                      </a:r>
                      <a:r>
                        <a:rPr lang="ru-RU" sz="1200" b="1" dirty="0">
                          <a:solidFill>
                            <a:prstClr val="black"/>
                          </a:solidFill>
                          <a:latin typeface="+mn-lt"/>
                          <a:ea typeface="Microsoft Sans Serif" panose="020B0604020202020204" pitchFamily="34" charset="0"/>
                          <a:cs typeface="Segoe UI Semilight" panose="020B0402040204020203" pitchFamily="34" charset="0"/>
                        </a:rPr>
                        <a:t>-30.</a:t>
                      </a:r>
                      <a:r>
                        <a:rPr lang="en-US" sz="1200" b="1" dirty="0">
                          <a:solidFill>
                            <a:prstClr val="black"/>
                          </a:solidFill>
                          <a:latin typeface="+mn-lt"/>
                          <a:ea typeface="Microsoft Sans Serif" panose="020B0604020202020204" pitchFamily="34" charset="0"/>
                          <a:cs typeface="Segoe UI Semilight" panose="020B0402040204020203" pitchFamily="34" charset="0"/>
                        </a:rPr>
                        <a:t>0</a:t>
                      </a:r>
                      <a:r>
                        <a:rPr lang="ru-RU" sz="1200" b="1" dirty="0">
                          <a:solidFill>
                            <a:prstClr val="black"/>
                          </a:solidFill>
                          <a:latin typeface="+mn-lt"/>
                          <a:ea typeface="Microsoft Sans Serif" panose="020B0604020202020204" pitchFamily="34" charset="0"/>
                          <a:cs typeface="Segoe UI Semilight" panose="020B0402040204020203" pitchFamily="34" charset="0"/>
                        </a:rPr>
                        <a:t>6.2</a:t>
                      </a:r>
                      <a:r>
                        <a:rPr lang="en-US" sz="1200" b="1" dirty="0">
                          <a:solidFill>
                            <a:prstClr val="black"/>
                          </a:solidFill>
                          <a:latin typeface="+mn-lt"/>
                          <a:ea typeface="Microsoft Sans Serif" panose="020B0604020202020204" pitchFamily="34" charset="0"/>
                          <a:cs typeface="Segoe UI Semilight" panose="020B0402040204020203" pitchFamily="34" charset="0"/>
                        </a:rPr>
                        <a:t>5</a:t>
                      </a:r>
                      <a:r>
                        <a:rPr lang="ru-RU" sz="1200" b="1" dirty="0">
                          <a:solidFill>
                            <a:prstClr val="black"/>
                          </a:solidFill>
                          <a:latin typeface="+mn-lt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Всего сообщений  </a:t>
                      </a:r>
                      <a:r>
                        <a:rPr lang="en-US" sz="1200" b="1" dirty="0">
                          <a:solidFill>
                            <a:prstClr val="black"/>
                          </a:solidFill>
                          <a:latin typeface="+mn-lt"/>
                          <a:ea typeface="Microsoft Sans Serif" panose="020B0604020202020204" pitchFamily="34" charset="0"/>
                          <a:cs typeface="Segoe UI Semilight" panose="020B0402040204020203" pitchFamily="34" charset="0"/>
                        </a:rPr>
                        <a:t>0</a:t>
                      </a:r>
                      <a:r>
                        <a:rPr lang="ru-RU" sz="1200" b="1" dirty="0">
                          <a:solidFill>
                            <a:prstClr val="black"/>
                          </a:solidFill>
                          <a:latin typeface="+mn-lt"/>
                          <a:ea typeface="Microsoft Sans Serif" panose="020B0604020202020204" pitchFamily="34" charset="0"/>
                          <a:cs typeface="Segoe UI Semilight" panose="020B0402040204020203" pitchFamily="34" charset="0"/>
                        </a:rPr>
                        <a:t>1.</a:t>
                      </a:r>
                      <a:r>
                        <a:rPr lang="en-US" sz="1200" b="1" dirty="0">
                          <a:solidFill>
                            <a:prstClr val="black"/>
                          </a:solidFill>
                          <a:latin typeface="+mn-lt"/>
                          <a:ea typeface="Microsoft Sans Serif" panose="020B0604020202020204" pitchFamily="34" charset="0"/>
                          <a:cs typeface="Segoe UI Semilight" panose="020B0402040204020203" pitchFamily="34" charset="0"/>
                        </a:rPr>
                        <a:t>0</a:t>
                      </a:r>
                      <a:r>
                        <a:rPr lang="ru-RU" sz="1200" b="1" dirty="0">
                          <a:solidFill>
                            <a:prstClr val="black"/>
                          </a:solidFill>
                          <a:latin typeface="+mn-lt"/>
                          <a:ea typeface="Microsoft Sans Serif" panose="020B0604020202020204" pitchFamily="34" charset="0"/>
                          <a:cs typeface="Segoe UI Semilight" panose="020B0402040204020203" pitchFamily="34" charset="0"/>
                        </a:rPr>
                        <a:t>6.2</a:t>
                      </a:r>
                      <a:r>
                        <a:rPr lang="en-US" sz="1200" b="1" dirty="0">
                          <a:solidFill>
                            <a:prstClr val="black"/>
                          </a:solidFill>
                          <a:latin typeface="+mn-lt"/>
                          <a:ea typeface="Microsoft Sans Serif" panose="020B0604020202020204" pitchFamily="34" charset="0"/>
                          <a:cs typeface="Segoe UI Semilight" panose="020B0402040204020203" pitchFamily="34" charset="0"/>
                        </a:rPr>
                        <a:t>5</a:t>
                      </a:r>
                      <a:r>
                        <a:rPr lang="ru-RU" sz="1200" b="1" dirty="0">
                          <a:solidFill>
                            <a:prstClr val="black"/>
                          </a:solidFill>
                          <a:latin typeface="+mn-lt"/>
                          <a:ea typeface="Microsoft Sans Serif" panose="020B0604020202020204" pitchFamily="34" charset="0"/>
                          <a:cs typeface="Segoe UI Semilight" panose="020B0402040204020203" pitchFamily="34" charset="0"/>
                        </a:rPr>
                        <a:t>-30.</a:t>
                      </a:r>
                      <a:r>
                        <a:rPr lang="en-US" sz="1200" b="1" dirty="0">
                          <a:solidFill>
                            <a:prstClr val="black"/>
                          </a:solidFill>
                          <a:latin typeface="+mn-lt"/>
                          <a:ea typeface="Microsoft Sans Serif" panose="020B0604020202020204" pitchFamily="34" charset="0"/>
                          <a:cs typeface="Segoe UI Semilight" panose="020B0402040204020203" pitchFamily="34" charset="0"/>
                        </a:rPr>
                        <a:t>0</a:t>
                      </a:r>
                      <a:r>
                        <a:rPr lang="ru-RU" sz="1200" b="1" dirty="0">
                          <a:solidFill>
                            <a:prstClr val="black"/>
                          </a:solidFill>
                          <a:latin typeface="+mn-lt"/>
                          <a:ea typeface="Microsoft Sans Serif" panose="020B0604020202020204" pitchFamily="34" charset="0"/>
                          <a:cs typeface="Segoe UI Semilight" panose="020B0402040204020203" pitchFamily="34" charset="0"/>
                        </a:rPr>
                        <a:t>6.2</a:t>
                      </a:r>
                      <a:r>
                        <a:rPr lang="en-US" sz="1200" b="1" dirty="0">
                          <a:solidFill>
                            <a:prstClr val="black"/>
                          </a:solidFill>
                          <a:latin typeface="+mn-lt"/>
                          <a:ea typeface="Microsoft Sans Serif" panose="020B0604020202020204" pitchFamily="34" charset="0"/>
                          <a:cs typeface="Segoe UI Semilight" panose="020B0402040204020203" pitchFamily="34" charset="0"/>
                        </a:rPr>
                        <a:t>5</a:t>
                      </a:r>
                      <a:r>
                        <a:rPr lang="ru-RU" sz="1200" b="1" dirty="0">
                          <a:solidFill>
                            <a:prstClr val="black"/>
                          </a:solidFill>
                          <a:latin typeface="+mn-lt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исполнения  </a:t>
                      </a:r>
                      <a:r>
                        <a:rPr lang="en-US" sz="1200" b="1" dirty="0">
                          <a:solidFill>
                            <a:prstClr val="black"/>
                          </a:solidFill>
                          <a:latin typeface="+mn-lt"/>
                          <a:ea typeface="Microsoft Sans Serif" panose="020B0604020202020204" pitchFamily="34" charset="0"/>
                          <a:cs typeface="Segoe UI Semilight" panose="020B0402040204020203" pitchFamily="34" charset="0"/>
                        </a:rPr>
                        <a:t>0</a:t>
                      </a:r>
                      <a:r>
                        <a:rPr lang="ru-RU" sz="1200" b="1" dirty="0">
                          <a:solidFill>
                            <a:prstClr val="black"/>
                          </a:solidFill>
                          <a:latin typeface="+mn-lt"/>
                          <a:ea typeface="Microsoft Sans Serif" panose="020B0604020202020204" pitchFamily="34" charset="0"/>
                          <a:cs typeface="Segoe UI Semilight" panose="020B0402040204020203" pitchFamily="34" charset="0"/>
                        </a:rPr>
                        <a:t>1.</a:t>
                      </a:r>
                      <a:r>
                        <a:rPr lang="en-US" sz="1200" b="1" dirty="0">
                          <a:solidFill>
                            <a:prstClr val="black"/>
                          </a:solidFill>
                          <a:latin typeface="+mn-lt"/>
                          <a:ea typeface="Microsoft Sans Serif" panose="020B0604020202020204" pitchFamily="34" charset="0"/>
                          <a:cs typeface="Segoe UI Semilight" panose="020B0402040204020203" pitchFamily="34" charset="0"/>
                        </a:rPr>
                        <a:t>0</a:t>
                      </a:r>
                      <a:r>
                        <a:rPr lang="ru-RU" sz="1200" b="1" dirty="0">
                          <a:solidFill>
                            <a:prstClr val="black"/>
                          </a:solidFill>
                          <a:latin typeface="+mn-lt"/>
                          <a:ea typeface="Microsoft Sans Serif" panose="020B0604020202020204" pitchFamily="34" charset="0"/>
                          <a:cs typeface="Segoe UI Semilight" panose="020B0402040204020203" pitchFamily="34" charset="0"/>
                        </a:rPr>
                        <a:t>6.2</a:t>
                      </a:r>
                      <a:r>
                        <a:rPr lang="en-US" sz="1200" b="1" dirty="0">
                          <a:solidFill>
                            <a:prstClr val="black"/>
                          </a:solidFill>
                          <a:latin typeface="+mn-lt"/>
                          <a:ea typeface="Microsoft Sans Serif" panose="020B0604020202020204" pitchFamily="34" charset="0"/>
                          <a:cs typeface="Segoe UI Semilight" panose="020B0402040204020203" pitchFamily="34" charset="0"/>
                        </a:rPr>
                        <a:t>5</a:t>
                      </a:r>
                      <a:r>
                        <a:rPr lang="ru-RU" sz="1200" b="1" dirty="0">
                          <a:solidFill>
                            <a:prstClr val="black"/>
                          </a:solidFill>
                          <a:latin typeface="+mn-lt"/>
                          <a:ea typeface="Microsoft Sans Serif" panose="020B0604020202020204" pitchFamily="34" charset="0"/>
                          <a:cs typeface="Segoe UI Semilight" panose="020B0402040204020203" pitchFamily="34" charset="0"/>
                        </a:rPr>
                        <a:t>-30.</a:t>
                      </a:r>
                      <a:r>
                        <a:rPr lang="en-US" sz="1200" b="1" dirty="0">
                          <a:solidFill>
                            <a:prstClr val="black"/>
                          </a:solidFill>
                          <a:latin typeface="+mn-lt"/>
                          <a:ea typeface="Microsoft Sans Serif" panose="020B0604020202020204" pitchFamily="34" charset="0"/>
                          <a:cs typeface="Segoe UI Semilight" panose="020B0402040204020203" pitchFamily="34" charset="0"/>
                        </a:rPr>
                        <a:t>0</a:t>
                      </a:r>
                      <a:r>
                        <a:rPr lang="ru-RU" sz="1200" b="1" dirty="0">
                          <a:solidFill>
                            <a:prstClr val="black"/>
                          </a:solidFill>
                          <a:latin typeface="+mn-lt"/>
                          <a:ea typeface="Microsoft Sans Serif" panose="020B0604020202020204" pitchFamily="34" charset="0"/>
                          <a:cs typeface="Segoe UI Semilight" panose="020B0402040204020203" pitchFamily="34" charset="0"/>
                        </a:rPr>
                        <a:t>6.2</a:t>
                      </a:r>
                      <a:r>
                        <a:rPr lang="en-US" sz="1200" b="1" dirty="0">
                          <a:solidFill>
                            <a:prstClr val="black"/>
                          </a:solidFill>
                          <a:latin typeface="+mn-lt"/>
                          <a:ea typeface="Microsoft Sans Serif" panose="020B0604020202020204" pitchFamily="34" charset="0"/>
                          <a:cs typeface="Segoe UI Semilight" panose="020B0402040204020203" pitchFamily="34" charset="0"/>
                        </a:rPr>
                        <a:t>5</a:t>
                      </a:r>
                      <a:r>
                        <a:rPr lang="ru-RU" sz="1200" b="1" dirty="0">
                          <a:solidFill>
                            <a:prstClr val="black"/>
                          </a:solidFill>
                          <a:latin typeface="+mn-lt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751955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АВД ЮВАО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 fontAlgn="ctr">
                        <a:buNone/>
                      </a:pPr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95,9</a:t>
                      </a:r>
                    </a:p>
                  </a:txBody>
                  <a:tcPr marL="17145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58730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Лефортово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 fontAlgn="ctr">
                        <a:buNone/>
                      </a:pPr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97,1</a:t>
                      </a:r>
                    </a:p>
                  </a:txBody>
                  <a:tcPr marL="17145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086573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Кузьминки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2391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 fontAlgn="ctr">
                        <a:buNone/>
                      </a:pPr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97,7</a:t>
                      </a:r>
                    </a:p>
                  </a:txBody>
                  <a:tcPr marL="17145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44444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Рязанский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2382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 fontAlgn="ctr">
                        <a:buNone/>
                      </a:pPr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98,4</a:t>
                      </a:r>
                    </a:p>
                  </a:txBody>
                  <a:tcPr marL="17145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632694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Печатники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 fontAlgn="ctr"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98,5</a:t>
                      </a:r>
                    </a:p>
                  </a:txBody>
                  <a:tcPr marL="17145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67845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Марьино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2977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 fontAlgn="ctr">
                        <a:buNone/>
                      </a:pPr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98,9</a:t>
                      </a:r>
                    </a:p>
                  </a:txBody>
                  <a:tcPr marL="17145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286023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Капотня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 fontAlgn="ctr">
                        <a:buNone/>
                      </a:pPr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17145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607562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Нижегородский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 fontAlgn="ctr">
                        <a:buNone/>
                      </a:pPr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17145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525781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Выхино-Жулебино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 fontAlgn="ctr">
                        <a:buNone/>
                      </a:pPr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99,1</a:t>
                      </a:r>
                    </a:p>
                  </a:txBody>
                  <a:tcPr marL="17145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6545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Южнопортовый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 fontAlgn="ctr">
                        <a:buNone/>
                      </a:pPr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99,2</a:t>
                      </a:r>
                    </a:p>
                  </a:txBody>
                  <a:tcPr marL="17145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860884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Текстильщики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1892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 fontAlgn="ctr">
                        <a:buNone/>
                      </a:pPr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99,3</a:t>
                      </a:r>
                    </a:p>
                  </a:txBody>
                  <a:tcPr marL="17145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831595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Люблино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 fontAlgn="ctr">
                        <a:buNone/>
                      </a:pPr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99,3</a:t>
                      </a:r>
                    </a:p>
                  </a:txBody>
                  <a:tcPr marL="17145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22497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Некрасовка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 fontAlgn="ctr">
                        <a:buNone/>
                      </a:pPr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99,7</a:t>
                      </a:r>
                    </a:p>
                  </a:txBody>
                  <a:tcPr marL="17145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2187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06501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2007 - 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 2007 - 2010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2007 - 2010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8889</TotalTime>
  <Words>259</Words>
  <Application>Microsoft Office PowerPoint</Application>
  <PresentationFormat>Широкоэкранный</PresentationFormat>
  <Paragraphs>90</Paragraphs>
  <Slides>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11" baseType="lpstr">
      <vt:lpstr>Arial</vt:lpstr>
      <vt:lpstr>Bahnschrift SemiBold SemiConden</vt:lpstr>
      <vt:lpstr>Calibri</vt:lpstr>
      <vt:lpstr>Calibri Light</vt:lpstr>
      <vt:lpstr>Segoe UI Semilight</vt:lpstr>
      <vt:lpstr>Sitka Subheading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Модератор портала</dc:creator>
  <cp:lastModifiedBy>Tel9 Tel9</cp:lastModifiedBy>
  <cp:revision>692</cp:revision>
  <cp:lastPrinted>2024-10-10T14:15:36Z</cp:lastPrinted>
  <dcterms:created xsi:type="dcterms:W3CDTF">2024-02-16T08:13:04Z</dcterms:created>
  <dcterms:modified xsi:type="dcterms:W3CDTF">2025-07-14T11:51:46Z</dcterms:modified>
</cp:coreProperties>
</file>